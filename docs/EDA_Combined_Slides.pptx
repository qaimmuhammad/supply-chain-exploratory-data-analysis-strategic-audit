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6"/>
  </p:notesMasterIdLst>
  <p:sldIdLst>
    <p:sldId id="256" r:id="rId2"/>
    <p:sldId id="262" r:id="rId3"/>
    <p:sldId id="263" r:id="rId4"/>
    <p:sldId id="264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91" r:id="rId19"/>
    <p:sldId id="292" r:id="rId20"/>
    <p:sldId id="293" r:id="rId21"/>
    <p:sldId id="294" r:id="rId22"/>
    <p:sldId id="295" r:id="rId23"/>
    <p:sldId id="296" r:id="rId24"/>
    <p:sldId id="297" r:id="rId25"/>
    <p:sldId id="298" r:id="rId26"/>
    <p:sldId id="299" r:id="rId27"/>
    <p:sldId id="300" r:id="rId28"/>
    <p:sldId id="301" r:id="rId29"/>
    <p:sldId id="302" r:id="rId30"/>
    <p:sldId id="303" r:id="rId31"/>
    <p:sldId id="304" r:id="rId32"/>
    <p:sldId id="305" r:id="rId33"/>
    <p:sldId id="306" r:id="rId34"/>
    <p:sldId id="307" r:id="rId35"/>
    <p:sldId id="308" r:id="rId36"/>
    <p:sldId id="309" r:id="rId37"/>
    <p:sldId id="310" r:id="rId38"/>
    <p:sldId id="311" r:id="rId39"/>
    <p:sldId id="312" r:id="rId40"/>
    <p:sldId id="313" r:id="rId41"/>
    <p:sldId id="314" r:id="rId42"/>
    <p:sldId id="315" r:id="rId43"/>
    <p:sldId id="316" r:id="rId44"/>
    <p:sldId id="317" r:id="rId45"/>
    <p:sldId id="318" r:id="rId46"/>
    <p:sldId id="319" r:id="rId47"/>
    <p:sldId id="320" r:id="rId48"/>
    <p:sldId id="321" r:id="rId49"/>
    <p:sldId id="322" r:id="rId50"/>
    <p:sldId id="257" r:id="rId51"/>
    <p:sldId id="258" r:id="rId52"/>
    <p:sldId id="259" r:id="rId53"/>
    <p:sldId id="260" r:id="rId54"/>
    <p:sldId id="261" r:id="rId5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527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166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9208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292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2095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7936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8316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5418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6877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4599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9188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1441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8932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949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3751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6750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6216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8098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9608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9790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9391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5047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0263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3809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17299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439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94146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7887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90058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62280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21880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46348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41360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86364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45258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60993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16515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14133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44361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16469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72222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77023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96106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25923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6924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94773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00089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02528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42405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01168"/>
            <a:ext cx="2560320" cy="25603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201168"/>
            <a:ext cx="2560320" cy="25603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201168"/>
            <a:ext cx="1463040" cy="256032"/>
          </a:xfrm>
          <a:prstGeom prst="rect">
            <a:avLst/>
          </a:prstGeom>
          <a:solidFill>
            <a:srgbClr val="1A5E3A"/>
          </a:solidFill>
          <a:ln w="12700">
            <a:solidFill>
              <a:srgbClr val="1A5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10312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SUPPLIER SELECTION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310128" y="210312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DEMAND VOLATILITY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61888" y="210312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· PRICE &amp; QUALITY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0080" y="5669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D6E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40080" y="1170432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5000" dirty="0"/>
          </a:p>
        </p:txBody>
      </p:sp>
      <p:sp>
        <p:nvSpPr>
          <p:cNvPr id="12" name="Shape 10"/>
          <p:cNvSpPr/>
          <p:nvPr/>
        </p:nvSpPr>
        <p:spPr>
          <a:xfrm>
            <a:off x="640080" y="2029968"/>
            <a:ext cx="7863840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1488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CEO Strategic Questions · Evidence-Based Findings · Procurement Intelligence Report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2697480"/>
            <a:ext cx="7863840" cy="429768"/>
          </a:xfrm>
          <a:prstGeom prst="rect">
            <a:avLst/>
          </a:prstGeom>
          <a:solidFill>
            <a:srgbClr val="141E3C"/>
          </a:solidFill>
          <a:ln w="12700">
            <a:solidFill>
              <a:srgbClr val="2E3A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697480"/>
            <a:ext cx="502920" cy="42976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" y="2734056"/>
            <a:ext cx="484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07008" y="2752344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selecting the right suppliers — or just the available ones?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3191256"/>
            <a:ext cx="7863840" cy="429768"/>
          </a:xfrm>
          <a:prstGeom prst="rect">
            <a:avLst/>
          </a:prstGeom>
          <a:solidFill>
            <a:srgbClr val="141E3C"/>
          </a:solidFill>
          <a:ln w="12700">
            <a:solidFill>
              <a:srgbClr val="2E3A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191256"/>
            <a:ext cx="502920" cy="4297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" y="3227832"/>
            <a:ext cx="484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07008" y="3246120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our demand unpredictability silently breaking our supply chain?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3685032"/>
            <a:ext cx="7863840" cy="429768"/>
          </a:xfrm>
          <a:prstGeom prst="rect">
            <a:avLst/>
          </a:prstGeom>
          <a:solidFill>
            <a:srgbClr val="141E3C"/>
          </a:solidFill>
          <a:ln w="12700">
            <a:solidFill>
              <a:srgbClr val="2E3A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3685032"/>
            <a:ext cx="502920" cy="429768"/>
          </a:xfrm>
          <a:prstGeom prst="rect">
            <a:avLst/>
          </a:prstGeom>
          <a:solidFill>
            <a:srgbClr val="1A5E3A"/>
          </a:solidFill>
          <a:ln w="12700">
            <a:solidFill>
              <a:srgbClr val="1A5E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" y="3721608"/>
            <a:ext cx="484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07008" y="3739896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paying a quality premium — or just paying a premium?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77316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DATA COLUMNS  ·  3,089 PROCUREMENT RECORDS  ·  12-MONTH COVERAGE  ·  CEO BRIEFING  ·  CONFIDENTIAL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Overview: What Data Are We Working With?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procurement dataset — 22 columns spanning pricing, quality, delivery, and supplier behaviour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is built on a comprehensive supply chain procurement dataset. Each row represents a single procurement transaction, capturing everything from the price paid and quality received, to delivery performance and supplier selection decisions.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810512"/>
            <a:ext cx="2011680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810512"/>
            <a:ext cx="2011680" cy="347472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82880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Commercial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29768" y="2212848"/>
            <a:ext cx="182880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price_per_unit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payment_term_days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offer_validity_days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delivery_term_code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items_requested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items_offered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68880" y="1810512"/>
            <a:ext cx="2011680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810512"/>
            <a:ext cx="2011680" cy="347472"/>
          </a:xfrm>
          <a:prstGeom prst="rect">
            <a:avLst/>
          </a:prstGeom>
          <a:solidFill>
            <a:srgbClr val="7B2D00"/>
          </a:solidFill>
          <a:ln w="12700">
            <a:solidFill>
              <a:srgbClr val="7B2D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42032" y="182880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Reliability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578608" y="2212848"/>
            <a:ext cx="182880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quality_score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defect_rate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return_rate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supplier_reliability_score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selected_supplier_flag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17720" y="1810512"/>
            <a:ext cx="2011680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810512"/>
            <a:ext cx="2011680" cy="347472"/>
          </a:xfrm>
          <a:prstGeom prst="rect">
            <a:avLst/>
          </a:prstGeom>
          <a:solidFill>
            <a:srgbClr val="1A5F1A"/>
          </a:solidFill>
          <a:ln w="12700">
            <a:solidFill>
              <a:srgbClr val="1A5F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90872" y="182880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&amp; Operations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27448" y="2212848"/>
            <a:ext cx="182880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delivery_time_days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on_time_delivery_rate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lead_time_variance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delivery_mode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procurement_action_code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66560" y="1810512"/>
            <a:ext cx="2011680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66560" y="1810512"/>
            <a:ext cx="2011680" cy="347472"/>
          </a:xfrm>
          <a:prstGeom prst="rect">
            <a:avLst/>
          </a:prstGeom>
          <a:solidFill>
            <a:srgbClr val="4A0080"/>
          </a:solidFill>
          <a:ln w="12700">
            <a:solidFill>
              <a:srgbClr val="4A00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39712" y="182880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&amp; Planning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876288" y="2212848"/>
            <a:ext cx="182880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forecast_accuracy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seasonality_index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demand_volatility_index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order_frequency_monthly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avg_order_volume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temporal_month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COLUMNS  ·  3,089 ROWS  ·  DATA SPANS 12 MONTHS  ·  COVERS PRICING · QUALITY · DELIVERY · DEMAND · SUPPLIER SELECTION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1476419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Column Glossary: What Each Field Means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definitions for every column used across Q1, Q2, and Q3 analysis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69848"/>
            <a:ext cx="1874520" cy="201168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" y="1088136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price_per_unit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58568" y="10881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paid per unit for each procurement order ($50-$500 range).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403604"/>
            <a:ext cx="1874520" cy="201168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" y="1421892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quality_score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258568" y="14218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quality rating of the supplier (scale: 1-10).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" y="1737360"/>
            <a:ext cx="1874520" cy="201168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" y="1755648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delivery_time_days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258568" y="17556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days from order placement to delivery completion.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" y="2071116"/>
            <a:ext cx="1874520" cy="201168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" y="2089404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on_time_delivery_rate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258568" y="208940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past deliveries completed on or before promised date.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0040" y="2404872"/>
            <a:ext cx="1874520" cy="201168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" y="2423160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defect_rate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258568" y="24231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delivered items found defective (0.00-0.10).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2738628"/>
            <a:ext cx="1874520" cy="201168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" y="2756916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return_rate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258568" y="27569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delivered items returned by customers (0.00-0.10).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0040" y="3072384"/>
            <a:ext cx="1874520" cy="201168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4904" y="3090672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delivery_mode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258568" y="30906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of transport used (e.g. air, sea, road).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0040" y="3406140"/>
            <a:ext cx="1874520" cy="201168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" y="3424428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lead_time_variance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258568" y="34244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 in days between expected and actual delivery.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0040" y="3739896"/>
            <a:ext cx="1874520" cy="201168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904" y="3758184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forecast_accuracy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258568" y="37581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accurately demand was predicted vs. actuals (0-1).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0040" y="4073652"/>
            <a:ext cx="1874520" cy="201168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4904" y="4091940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seasonality_index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258568" y="40919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demand multiplier; &gt; 1.0 = above-average month.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0040" y="4407408"/>
            <a:ext cx="1874520" cy="201168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4904" y="4425696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demand_volatility_index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258568" y="442569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instability score (0 = stable, 1 = total chaos).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709160" y="1069848"/>
            <a:ext cx="1874520" cy="201168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64024" y="1088136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order_frequency_monthly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647688" y="10881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purchase orders placed within a given month.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709160" y="1403604"/>
            <a:ext cx="1874520" cy="201168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64024" y="1421892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avg_order_volume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647688" y="14218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number of units per order within a month.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709160" y="1737360"/>
            <a:ext cx="1874520" cy="201168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64024" y="1755648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payment_term_days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647688" y="17556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allowed for buyer to complete payment after delivery.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709160" y="2071116"/>
            <a:ext cx="1874520" cy="201168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64024" y="2089404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offer_validity_days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647688" y="208940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the supplier quoted price remains valid.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709160" y="2404872"/>
            <a:ext cx="1874520" cy="201168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64024" y="2423160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procurement_action_code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647688" y="24231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code for procurement strategy used (0-3).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709160" y="2738628"/>
            <a:ext cx="1874520" cy="201168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64024" y="2756916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delivery_term_code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647688" y="27569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code for agreed delivery terms (FOB, CIF etc).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709160" y="3072384"/>
            <a:ext cx="1874520" cy="201168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64024" y="3090672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items_requested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647688" y="30906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distinct items requested by buyer in the order.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709160" y="3406140"/>
            <a:ext cx="1874520" cy="201168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64024" y="3424428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items_offered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647688" y="34244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items the supplier was able to offer in response.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709160" y="3739896"/>
            <a:ext cx="1874520" cy="201168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64024" y="3758184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temporal_month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647688" y="37581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month (1 = January, 12 = December).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709160" y="4073652"/>
            <a:ext cx="1874520" cy="201168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64024" y="4091940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supplier_reliability_score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647688" y="40919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 for supplier commitment consistency (0-1).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709160" y="4407408"/>
            <a:ext cx="1874520" cy="201168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764024" y="4425696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selected_supplier_flag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6647688" y="442569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Binary: 1 = supplier selected for order, 0 = not selected.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74320" y="4946904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22 columns are used across Q1 (Supplier Selection), Q2 (Demand Volatility), and Q3 (Price-Quality Analysis)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4141546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EDA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 Strategic Intelligence Report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Selection: Are We Choosing the Right Suppliers — or Just the Available Ones?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337560"/>
            <a:ext cx="365760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520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 |  CEO Briefing  |  Confidential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77316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ANALYTICAL STEPS  |  3,089 SUPPLIER RECORDS  |  KEY KPIs: QUALITY · COST · DELIVERY · RELIABILITY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425757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1: Understand the Supplier Split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suppliers are selected vs. non-selected — and does the ratio matter?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463040" cy="2560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proportion of our supplier pool is actually selected — and is this split balanced or heavily skewed?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Measured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selected_supplier_flag (0 = Not Selected, 1 = Selected) to count both groups using value_counts(). Converted to percentage to reveal the selection ratio.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Split Matters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selection is highly unbalanced (e.g. 90/10), comparisons become statistically unreliable. A near-even split means both groups are large enough for meaningful analysis.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Step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7220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count forms the baseline sample size for every downstream comparison. Every subsequent chart, boxplot, and scorecard is built on top of this fundamental split.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solidFill>
            <a:srgbClr val="D6E4F7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46085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 USED:  selected_supplier_flag  (value_counts() + normalize=True for percentage split)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825223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1: Output &amp; Analytical Approach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Selection Distribution – Bar Chart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52120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q1_ste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051560"/>
            <a:ext cx="5157216" cy="3246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23560" y="1024128"/>
            <a:ext cx="3154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23560" y="1024128"/>
            <a:ext cx="3154680" cy="31089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0" y="104241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669280" y="1389888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Near-Even Split: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1,560 non-selected vs. 1,529 selected — a 50.5%/49.5% split, virtually balanced.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Skew Bias: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nearly equal group sizes, all downstream metric comparisons are statistically fair.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Rate ~50%: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selecting roughly half of available suppliers — not cherry-picking a small elite subset.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Takeaway: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50/50 split demands a clear performance rationale — if half are chosen, quality must differentiate them.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0040" y="4599432"/>
            <a:ext cx="8458200" cy="384048"/>
          </a:xfrm>
          <a:prstGeom prst="rect">
            <a:avLst/>
          </a:prstGeom>
          <a:solidFill>
            <a:srgbClr val="D6E4F7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57200" y="462686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CHOICE:  Bar chart selected for simplicity — value_counts() maps directly to two bars. Color coding (red=rejected, green=selected) provides immediate intuitive understanding without a legend. Value labels floating above bars give exact counts at a glance.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404138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2: Compare Quality &amp; Reliability Head-to-Head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selected suppliers actually outperform on the metrics that matter?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463040" cy="2560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Across quality score, reliability, defect rate, and return rate — do selected suppliers measurably outperform non-selected ones?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Metrics Analyzed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quality_score (higher = better), supplier_reliability_score (higher = better), defect_rate (lower = better), return_rate (lower = better). All compared across both groups simultaneously.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+ .agg()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df.groupby('selected_supplier_flag')[metrics].agg(['mean','median','std']) to extract three statistics per metric per group — giving a complete statistical profile, not just averages.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Grouped Bar Chart?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7220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grouped bar chart places both groups side-by-side for every metric, making marginal differences immediately visible. 4 metrics × 2 groups = 8 bars total in one view.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solidFill>
            <a:srgbClr val="D6E4F7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46085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METRICS:  quality_score  ·  supplier_reliability_score  ·  defect_rate  ·  return_rate  (grouped by selected_supplier_flag)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01178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2: Output &amp; Analytical Approach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Reliability: Selected vs. Non-Selected Suppliers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52120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q1_ste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051560"/>
            <a:ext cx="5157216" cy="3429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23560" y="1024128"/>
            <a:ext cx="3154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23560" y="1024128"/>
            <a:ext cx="3154680" cy="31089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0" y="104241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669280" y="1389888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 Near-Identical: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5.46 (Non-Selected) vs. 5.42 (Selected) — a -0.7% difference that is negligible.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Essentially Equal: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 vs. 0.51 supplier reliability score — selected suppliers are marginally more reliable.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&amp; Return Rates Matched: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groups show 0.05 defect rate and 0.03 return rate — no meaningful difference.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Takeaway: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does NOT appear to be the driver of selection. The selection logic may need deeper scrutiny.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0040" y="4599432"/>
            <a:ext cx="8458200" cy="384048"/>
          </a:xfrm>
          <a:prstGeom prst="rect">
            <a:avLst/>
          </a:prstGeom>
          <a:solidFill>
            <a:srgbClr val="D6E4F7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57200" y="462686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CHOICE:  Grouped bar chart chosen so that both groups appear side-by-side per metric — enabling direct visual comparison across 4 dimensions simultaneously. autolabel() function annotates each bar with its exact value, preventing misreading of near-identical heights.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3139212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3: Is the Price Premium Justified?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we pay more for selected suppliers — and do we get more in return?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463040" cy="2560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selected suppliers cost more per unit, does the quality gain justify the premium — or are we overpaying?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Delta Calculation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average price_per_unit per group. Calculated price_delta_pct: ((price_1 - price_0) / price_0) × 100 to get the % premium paid for selected suppliers.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Delta Calculation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Simultaneously computed quality_delta_pct from quality_score means. The key test: is quality_delta_pct &gt; price_delta_pct? If yes → investment is justified.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Bar Chart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7220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bar chart for price with an embedded text annotation showing both deltas simultaneously — giving the CEO the cost AND the quality verdict in one visual frame.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solidFill>
            <a:srgbClr val="D6E4F7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46085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USED:  price_per_unit  ·  quality_score  (avg per group, delta % calculated via numpy)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63801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3: Output &amp; Analytical Approach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vs. Value – Is the Price Premium Justified?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52120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q1_step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051560"/>
            <a:ext cx="5157216" cy="3429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23560" y="1024128"/>
            <a:ext cx="315468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669280" y="107899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Margin: +0.195%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669280" y="15361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winning — just barely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623560" y="2075688"/>
            <a:ext cx="31546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23560" y="2075688"/>
            <a:ext cx="3154680" cy="31089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0" y="209397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669280" y="2450592"/>
            <a:ext cx="301752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Suppliers Cost Less: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$273.5 vs. $275.9 — selected suppliers are actually -0.87% cheaper on average.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Drops Marginally: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 falls -0.68% for selected suppliers. A small dip, but we pay less too.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Result: +0.195% Win: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(0.87%) exceed quality loss (0.68%) — selection logic is economically sound by a slim margin.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Takeaway: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overpaying. But the margin is razor thin — quality standards need active monitoring.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0040" y="4599432"/>
            <a:ext cx="8458200" cy="384048"/>
          </a:xfrm>
          <a:prstGeom prst="rect">
            <a:avLst/>
          </a:prstGeom>
          <a:solidFill>
            <a:srgbClr val="D6E4F7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57200" y="462686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CHOICE:  Single bar chart for price comparison with an embedded annotation box showing both price and quality deltas simultaneously. This eliminates the need for a separate quality chart — the insight (margin = 0.195%) lives inside the same visual frame where the CEO reads the cost numbers.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3840175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4: Delivery Behavior – Selected vs. Non-Selected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selected suppliers operationally superior — or just commercially preferred?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463040" cy="2560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selected suppliers deliver faster, more reliably, and with lower lead time variance — or do they perform identically?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Delivery Metrics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on_time_delivery_rate (higher = better), delivery_time_days (lower = better), lead_time_variance (lower = better). All three reveal different dimensions of operational discipline.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Box Plots?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plots expose the full distribution — median, interquartile range, min/max, and outliers. Averages hide the fact that a supplier might have great median performance but catastrophic outlier deliveries.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 Approach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7220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 into g0 (non-selected) and g1 (selected) subsets. plt.subplots(1,3) creates three side-by-side panels — one per metric — for simultaneous cross-group and cross-metric comparison.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solidFill>
            <a:srgbClr val="D6E4F7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46085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METRICS:  on_time_delivery_rate  ·  delivery_time_days  ·  lead_time_variance  (box plots, both groups)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8150043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4: Output &amp; Analytical Approach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Discipline – Selected vs. Non-Selected Suppliers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85039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q1_step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51560"/>
            <a:ext cx="841248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4370832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4370832"/>
            <a:ext cx="54864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8056" y="437997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448056" y="45262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Identical Medians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48056" y="470916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groups: 85% on-time rate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172968" y="4370832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72968" y="4370832"/>
            <a:ext cx="54864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00984" y="437997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3300984" y="45262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Both: 15 Days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300984" y="470916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delivery equal across groups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25896" y="4370832"/>
            <a:ext cx="2743200" cy="502920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025896" y="4370832"/>
            <a:ext cx="54864" cy="5029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53912" y="437997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VARIANCE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6153912" y="45262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 vs. 2.5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153912" y="470916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spread — no discipline edge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0" y="4946904"/>
            <a:ext cx="9144000" cy="196596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" y="496519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CHOICE:  Box plots reveal median, spread, and outliers — critical for operational metrics where a single bad outlier delivery can disrupt an entire production schedule. Three side-by-side subplots enable simultaneous cross-metric comparison without visual overload.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9820588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5: Procurement Action Breakdown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supplier selection driven by strategy — or arbitrary choice?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463040" cy="2560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 certain procurement action codes strongly correlated with supplier selection — revealing a hidden strategic pattern or a random one?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Cross-Tabulation Approach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groupby(['procurement_action_code','selected_supplier_flag']).size().unstack() to create a frequency matrix — counts of selected vs. non-selected per procurement action type.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Row-Wise Normalization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Divided by row sums (.div(grouped.sum(axis=1),axis=0)) to convert raw counts into selection probabilities per action code — making patterns comparable despite unequal action volumes.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Heatmap?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7220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heatmap with imshow() reveals the probability of selection per procurement action at a glance. Color intensity (YlGnBu) immediately signals which action codes correlate most strongly with selection.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solidFill>
            <a:srgbClr val="D6E4F7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46085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METRICS:  procurement_action_code  ·  selected_supplier_flag  (normalized frequency heatmap)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826084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5: Output &amp; Analytical Approach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Action vs. Supplier Selection – Correlation Heatmap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42976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q1_step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51560"/>
            <a:ext cx="4206240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09160" y="1024128"/>
            <a:ext cx="40690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709160" y="1024128"/>
            <a:ext cx="4069080" cy="31089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0" y="104241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773168" y="1399032"/>
            <a:ext cx="3913632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Code 0 → Selects More: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 of Action-0 transactions result in supplier selection — the highest rate across all codes.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Code 2 → Also Favours Selection: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 selection probability — matching Action 0 as the two highest-selecting procurement types.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Code 1 → Leans Non-Selection: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51% of Action-1 transactions lead to non-selection — a slight but consistent bias away from selection.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Distribution is Near-Uniform: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probabilities fall between 0.47–0.53, suggesting no single action code dominates the selection decision.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Takeaway: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action type has marginal influence on selection. The decision driver lies elsewhere.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4983480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CHOICE:  Normalized heatmap (not raw count bar chart) ensures probabilities are comparable across action codes with different volumes. imshow() with YlGnBu colormap encodes probability as color intensity — darker = higher selection probability — readable at a glance.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7963176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6: The Procurement Summary Scorecard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boardroom-ready table that tells the complete Q1 supplier story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463040" cy="2560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we consolidate every Q1 metric into a single side-by-side comparison table that a CEO can act on immediately?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+ .mean() Pivot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df.groupby('selected_supplier_flag').mean(numeric_only=True).T to transpose the result — metrics become rows, selection groups become columns. One line creates the entire scorecard.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(%) Column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as ((Selected - Not Selected) / Not Selected) × 100. A positive value = selected suppliers are better on that metric. A negative value = non-selected are better or selected cost more.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as Terminal Output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7220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scorecard is rendered as a formatted pandas print output — clean, precise, and print-ready. In production, .style.background_gradient() can add color coding for executive presentations.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solidFill>
            <a:srgbClr val="D6E4F7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46085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METRICS:  All 20 numeric columns  (Selected vs. Not Selected, with % Improvement column)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34975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6: Output &amp; Analytical Approach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Summary Scorecard – Full Metric Comparison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85039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q1_step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51560"/>
            <a:ext cx="8412480" cy="2880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4041648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4041648"/>
            <a:ext cx="54864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8056" y="405079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ADVANTAGE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448056" y="41970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–0.87% Price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48056" y="4379976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suppliers cost less per unit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172968" y="4041648"/>
            <a:ext cx="2743200" cy="502920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72968" y="4041648"/>
            <a:ext cx="54864" cy="5029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00984" y="405079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TRADE-OFF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3300984" y="41970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–0.68% Quality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300984" y="4379976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quality dip — acceptable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25896" y="4041648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025896" y="4041648"/>
            <a:ext cx="54864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53912" y="405079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WIN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6153912" y="41970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+0.195% Margin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153912" y="4379976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exceed quality loss — logic holds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0" y="4626864"/>
            <a:ext cx="9144000" cy="516636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" y="4654296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CHOICE:  Printed pandas table chosen over a styled HTML output for terminal clarity and reproducibility. .groupby().mean().T pivots the entire dataset into a metric-by-group view in one line. The Improvement (%) column acts as a built-in signal column — positive = selected suppliers win on that metric, negative = non-selected are better.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6690452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 TO THE CEO QUESTION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 we selecting the right suppliers — or just the available ones?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261872"/>
            <a:ext cx="8229600" cy="36576"/>
          </a:xfrm>
          <a:prstGeom prst="rect">
            <a:avLst/>
          </a:prstGeom>
          <a:solidFill>
            <a:srgbClr val="445588"/>
          </a:solidFill>
          <a:ln w="12700">
            <a:solidFill>
              <a:srgbClr val="4455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89888"/>
            <a:ext cx="1993392" cy="2606040"/>
          </a:xfrm>
          <a:prstGeom prst="rect">
            <a:avLst/>
          </a:prstGeom>
          <a:solidFill>
            <a:srgbClr val="1E2D4A"/>
          </a:solidFill>
          <a:ln w="12700">
            <a:solidFill>
              <a:srgbClr val="2E40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63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184708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Is Balanced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267712"/>
            <a:ext cx="181051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50.5/49.5 split — nearly half of all suppliers are selected. This is broad-based, not elite cherry-picking.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70048" y="1389888"/>
            <a:ext cx="1993392" cy="2606040"/>
          </a:xfrm>
          <a:prstGeom prst="rect">
            <a:avLst/>
          </a:prstGeom>
          <a:solidFill>
            <a:srgbClr val="1E2D4A"/>
          </a:solidFill>
          <a:ln w="12700">
            <a:solidFill>
              <a:srgbClr val="2E40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61488" y="1463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761488" y="184708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Gap Is Minimal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61488" y="2267712"/>
            <a:ext cx="181051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scores, defect rates, and return rates are nearly identical across both groups. Quality is NOT the selection driver.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91456" y="1389888"/>
            <a:ext cx="1993392" cy="2606040"/>
          </a:xfrm>
          <a:prstGeom prst="rect">
            <a:avLst/>
          </a:prstGeom>
          <a:solidFill>
            <a:srgbClr val="1E2D4A"/>
          </a:solidFill>
          <a:ln w="12700">
            <a:solidFill>
              <a:srgbClr val="2E40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82896" y="1463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882896" y="184708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Logic Is Sound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82896" y="2267712"/>
            <a:ext cx="181051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suppliers cost -0.87% less while quality drops only -0.68%. Net margin: +0.195% in our favour.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12864" y="1389888"/>
            <a:ext cx="1993392" cy="2606040"/>
          </a:xfrm>
          <a:prstGeom prst="rect">
            <a:avLst/>
          </a:prstGeom>
          <a:solidFill>
            <a:srgbClr val="1E2D4A"/>
          </a:solidFill>
          <a:ln w="12700">
            <a:solidFill>
              <a:srgbClr val="2E40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04304" y="1463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004304" y="184708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Is Indistinguishable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04304" y="2267712"/>
            <a:ext cx="181051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plots confirm identical medians for on-time rate, delivery days, and lead time variance — no operational edge.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087368"/>
            <a:ext cx="8229600" cy="36576"/>
          </a:xfrm>
          <a:prstGeom prst="rect">
            <a:avLst/>
          </a:prstGeom>
          <a:solidFill>
            <a:srgbClr val="445588"/>
          </a:solidFill>
          <a:ln w="12700">
            <a:solidFill>
              <a:srgbClr val="4455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1422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VERDICT:  We are selecting the right suppliers — economically. But 'right' is a thin margin. With quality, delivery, and reliability virtually identical between groups, the procurement team must articulate a clearer, data-driven selection rationale — or risk selecting by habit rather than performance.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" y="452628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EDA  ·  Q1 Strategic Report  ·  Confidential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9236971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EDA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 Strategic Intelligence Report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Volatility: Is It Silently Breaking Our Supply Chain?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3337560"/>
            <a:ext cx="365760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520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 |  CEO Briefing  |  Confidential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77316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ANALYTICAL STEPS  |  12-MONTH COVERAGE  |  KEY KPIs: VOLATILITY · ACCURACY · DELIVERY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9461153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1: Map Volatility Across the Year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which months spike in demand instability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463040" cy="2560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months are our most volatile — and how unstable is our demand throughout the year?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What We Plotted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average of the Demand Volatility Index (Jan–Dec) as a continuous line chart to reveal the year-round rhythm.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What We Annotated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at or above the 75th-percentile threshold (≥ 0.52) were flagged as Critical Problem Months with spike markers.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Why It Matters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7220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entry point for all downstream analysis — you must know WHEN the chaos happens before you can measure its cost.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solidFill>
            <a:srgbClr val="D6E4F7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46085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 USED:  demand_volatility_index  (grouped by temporal_month, averaged per month)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3307807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1: Output &amp; Analytical Approach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Volatility Index – 12-Month Risk Map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52120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ste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051560"/>
            <a:ext cx="5157216" cy="3246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23560" y="1024128"/>
            <a:ext cx="3154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23560" y="1024128"/>
            <a:ext cx="3154680" cy="31089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0" y="104241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669280" y="1389888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Months: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January, April &amp; July all hit 0.52 — the 75th-percentile threshold.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Threshold: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 — months at or above this are flagged CRITICAL.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Year-Round Range: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fluctuates between 0.46 (Aug) and 0.52, showing low total spread but recurring spikes.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Takeaway: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predictable spike months — not random chaos. We can plan for them.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0040" y="4434840"/>
            <a:ext cx="8458200" cy="530352"/>
          </a:xfrm>
          <a:prstGeom prst="rect">
            <a:avLst/>
          </a:prstGeom>
          <a:solidFill>
            <a:srgbClr val="D6E4F7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57200" y="446227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CHOICE:  Line chart chosen to reveal temporal continuity — bar charts show magnitude but hide trends. Spike annotations (arrowprops) flag months at ≥ 75th percentile automatically using quantile(0.75), making thresholds data-driven, not manual.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39250447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2: Layer In Seasonality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demand volatility predictable (seasonal) or random (dangerous)?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463040" cy="2560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our volatility spikes follow a predictable seasonal calendar — or are they random shocks we cannot anticipate?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Dual-Axis Design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panel = Demand Volatility Index; Bottom panel = Seasonality Index. Both share the same x-axis (months) so misalignments are immediately visible.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Seasonality?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Index captures the historical 'rhythm' of demand — values above 1.0 indicate months where business naturally grows based on calendar patterns.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Volatility?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7220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measures how far actual demand deviates from the normal. High volatility that does NOT track seasonality signals uncontrolled, unpredictable shocks.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solidFill>
            <a:srgbClr val="D6E4F7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46085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USED:  demand_volatility_index  ·  seasonality_index  (both grouped by temporal_month)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536831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2: Output &amp; Analytical Approach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vs. Seasonality – Comparison 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48463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ste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051560"/>
            <a:ext cx="4800600" cy="3703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257800" y="1024128"/>
            <a:ext cx="35204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257800" y="1024128"/>
            <a:ext cx="3520440" cy="31089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03520" y="104241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321808" y="1399032"/>
            <a:ext cx="33375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Do NOT Align: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peaks (Jan, Apr, Jul) do not consistently match seasonality peaks (Oct, Jan, May).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 Implication: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spikes diverge from seasonality, demand shocks are RANDOM — harder to plan for and absorb.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Exception: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volatility (0.46) despite normal seasonality — a stable operational window.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Takeaway: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volatility is not seasonal — it's structural. Budgeting by season won't fix it.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0040" y="4818888"/>
            <a:ext cx="8458200" cy="182880"/>
          </a:xfrm>
          <a:prstGeom prst="rect">
            <a:avLst/>
          </a:prstGeom>
          <a:solidFill>
            <a:srgbClr val="D6E4F7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57200" y="4837176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VISUALIZATION:  Dual-axis subplot (sharex=True) enforces precise month alignment. Two y-axes prevent scale confusion between index types. Dashed line for seasonality distinguishes it visually from the solid volatility line.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0404171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3: Does Forecasting Break Under Pressure?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Quantifying the relationship between volatility and forecast accuracy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463040" cy="2560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demand is highly volatile, does our forecast accuracy collapse — and can we prove it statistically?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dot = one month. X-axis = Demand Volatility Index; Y-axis = Forecast Accuracy. Reveals the shape and strength of the relationship between the two KPIs.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Trend Line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numpy.polyfit() calculates the best-fit line through the 12 monthly data points. The slope reveals direction: negative = accuracy falls as volatility rises.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 Coefficient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7220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via numpy.corrcoef(). A value of –1.0 = perfect inverse relationship. Our result of r = 0.07 tells a critical story about what's really driving errors.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solidFill>
            <a:srgbClr val="D6E4F7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46085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USED:  demand_volatility_index  ·  forecast_accuracy  (Pearson r via numpy.corrcoef)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592163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3: Output &amp; Analytical Approach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 + Regression – Volatility vs. Forecast Accuracy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52120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step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051560"/>
            <a:ext cx="5157216" cy="3429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23560" y="1024128"/>
            <a:ext cx="315468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669280" y="107899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Pearson r = 0.07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669280" y="15819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Correlation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623560" y="2121408"/>
            <a:ext cx="3154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23560" y="2121408"/>
            <a:ext cx="3154680" cy="31089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0" y="213969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687568" y="2487168"/>
            <a:ext cx="301752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0.07 = No Meaningful Link: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is NOT destroying forecast accuracy. The two are statistically independent.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Stays 79%–81%: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during peak volatility months, forecast accuracy barely moves.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Takeaway: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errors have other root causes — look at data quality, SKU mix, or planning models — not volatility.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0040" y="4599432"/>
            <a:ext cx="8458200" cy="384048"/>
          </a:xfrm>
          <a:prstGeom prst="rect">
            <a:avLst/>
          </a:prstGeom>
          <a:solidFill>
            <a:srgbClr val="D6E4F7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57200" y="462686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VISUALIZATION:  Scatter plot chosen to show individual monthly observations (not averages hiding variance). np.polyfit() generates a linear regression in 2 lines of code. Pearson r annotated in a bbox text overlay for immediate boardroom-level readability.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36225302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4: Volume Behavior During Volatile Months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demand uncertainty trigger panic-ordering or under-ordering?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463040" cy="2560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During high-volatility months, does procurement over-react with panic orders — or dangerously under-order?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Volume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many units are procured per order during each month. Spikes indicate panic-buying; dips indicate under-ordering relative to demand.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Frequency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many individual purchase orders are placed per month. High frequency + low volume = fragmented procurement. Low frequency + high volume = bulk hedging.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Side-by-Side Bars?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7220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bar charts allow direct month-to-month comparison on both dimensions simultaneously — essential to spot if procurement is compensating via volume OR frequency.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solidFill>
            <a:srgbClr val="D6E4F7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46085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USED:  avg_order_volume  ·  order_frequency_monthly  (grouped by temporal_month)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869019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4: Output &amp; Analytical Approach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Response – Order Volume &amp; Frequency Across Months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4937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step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051560"/>
            <a:ext cx="4892040" cy="3794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49240" y="1024128"/>
            <a:ext cx="34290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349240" y="1024128"/>
            <a:ext cx="3429000" cy="31089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94960" y="104241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394960" y="1399032"/>
            <a:ext cx="32918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Remarkably Stable Volumes: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volumes range 4,663–5,189 units. No panic-buying spikes despite high volatility months.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Dip (4,711 units):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volume in July — a CRITICAL volatility month — may signal cautious under-ordering.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Holds Steady: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frequency stays between 22.7 and 26.2 orders/month. Procurement is not fragmenting.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Takeaway: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is well-disciplined but potentially under-reacting to demand signals in Q3.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0040" y="4919472"/>
            <a:ext cx="8458200" cy="164592"/>
          </a:xfrm>
          <a:prstGeom prst="rect">
            <a:avLst/>
          </a:prstGeom>
          <a:solidFill>
            <a:srgbClr val="D6E4F7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57200" y="4937760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VISUALIZATION:  Dual stacked bar charts (sharex=True) enable direct read-across between volume and frequency per month. Contrasting colors (teal vs. orange) prevent confusion between the two separate procurement KPIs.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9177562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5: Delivery Consequences of Demand Chaos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volatility visibly translate into logistics failure?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463040" cy="2560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During high-volatility months, do delivery times worsen and on-time delivery rates fall — and by how much?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Heatmap Advantage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heatmap shows three metrics simultaneously (volatility, delivery days, on-time rate) across 12 months. Color intensity reveals relative stress — no need to read individual numbers first.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(0–1 Scale)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values are normalized using min-max scaling so that 'days' and 'index' values share the same color scale. This allows fair visual comparison across incompatible units.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Encoding (YlOrRd)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7220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= low stress / good performance. Orange = moderate concern. Dark Red = high stress. White text is applied automatically when background darkness exceeds 0.7 for readability.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solidFill>
            <a:srgbClr val="D6E4F7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46085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USED:  demand_volatility_index  ·  delivery_time_days  ·  on_time_delivery_rate  (heatmap of monthly averages)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8942948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5: Output &amp; Analytical Approach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– Demand Chaos vs. Logistics Performance Monthly Toll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45720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step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051560"/>
            <a:ext cx="4517136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983480" y="1024128"/>
            <a:ext cx="37947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983480" y="1024128"/>
            <a:ext cx="3794760" cy="31089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0" y="104241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0" y="1399032"/>
            <a:ext cx="365760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= Worst Delivery Month: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shows highest delivery days (15.83) AND high volatility (0.52) — peak operational stress.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= Delivery Paradox: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volatility (0.46) yet best on-time rate (86%). Confirms volatility-logistics link.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Rate Narrow Band: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rate stays 84%–86% all year — logistics team is absorbing shocks but at hidden cost.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Bright Spot: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delivery (14.42 days) and 85.7% on-time despite typical year-end volume pressure.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Takeaway: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is resilient — but April is a structural bottleneck needing targeted investment.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0040" y="4956048"/>
            <a:ext cx="8458200" cy="146304"/>
          </a:xfrm>
          <a:prstGeom prst="rect">
            <a:avLst/>
          </a:prstGeom>
          <a:solidFill>
            <a:srgbClr val="D6E4F7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57200" y="4974336"/>
            <a:ext cx="8229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VISUALIZATION:  Heatmap with imshow() + manual text loop — the most information-dense visual in Q2. Normalization prevents 'delivery days' (14–16) from visually dominating the 'index' (0.46–0.52) due to unit scale differences.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815393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6: Volatility Distribution Deep Dive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high volatility the exception — or our new normal?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463040" cy="2560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 we a fundamentally stable business with occasional spikes — or is high volatility embedded in our day-to-day operations?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(Distribution)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frequency distribution of all volatility index observations. Bins reveal which volatility ranges occur most often — is 0.5 a spike or our operating average?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 / Smoothed Trend Line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moving average (window_size=5) applied to histogram counts creates a smooth trend curve. This is a manual KDE approximation that reveals the 'shape' of the distribution without scipy.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Threshold Line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7220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vertical red dashed line marks the mean volatility (0.50). Anything to the right of this line = above-average stress zone. The proportion of data in that zone tells us if chaos is routine.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solidFill>
            <a:srgbClr val="D6E4F7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46085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 USED:  demand_volatility_index  (all raw records, not monthly averages — np.histogram with density=True, moving average smoothing)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1350525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6: Output &amp; Analytical Approach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Risk Map – How Volatile Is Our Business?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52120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step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051560"/>
            <a:ext cx="5157216" cy="3429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23560" y="1024128"/>
            <a:ext cx="315468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669280" y="107899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 Volatility = 0.50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669280" y="15361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Midpoint of the 0–1 chaos scale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623560" y="1984248"/>
            <a:ext cx="31546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23560" y="1984248"/>
            <a:ext cx="3154680" cy="2926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0" y="199796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669280" y="233172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is Near-Uniform: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observations spread widely (0.0 to 1.0) with no cluster at a safe zone.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at 0.50: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operate at the exact midpoint between stable and chaotic — no safety margin.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 Peak Near 0.8: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distribution peaks in the 0.8+ zone — high volatility is more routine than monthly averages suggest.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Takeaway: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is our baseline — not an exception. Structural solutions required, not reactive ones.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0040" y="4599432"/>
            <a:ext cx="8458200" cy="384048"/>
          </a:xfrm>
          <a:prstGeom prst="rect">
            <a:avLst/>
          </a:prstGeom>
          <a:solidFill>
            <a:srgbClr val="D6E4F7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57200" y="462686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VISUALIZATION:  Histogram uses density=True so y-axis = relative probability (not raw counts), enabling comparison across datasets of different sizes. Manual moving average (np.convolve) approximates KDE without scipy — a clean, dependency-free approach.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38224156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7: The Narrative Summary Table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boardroom-ready view that tells the complete seasonal story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463040" cy="2560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we consolidate all Q2 supply chain KPIs into a single month-by-month intelligence table a CEO can act on immediately?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.agg() Method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all rows by temporal_month and calculates the mean for four KPIs simultaneously: demand_volatility_index, forecast_accuracy, avg_order_volume, on_time_delivery_rate.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Gradient Styling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gradient applied to volatility (high = bad). Green gradient applied to accuracy and on-time rate (high = good). This dual encoding prevents misreading — color direction is metric-appropriate.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.format() Formatting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7220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formatted to 2 decimal places. Accuracy and on-time rate formatted as percentages ('{:.1%}'). Order volume formatted with comma separators for thousands readability.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solidFill>
            <a:srgbClr val="D6E4F7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46085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METRICS:  demand_volatility_index  ·  forecast_accuracy  ·  avg_order_volume  ·  on_time_delivery_rate  (12 rows × 4 columns)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2616775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7: Output &amp; Analytical Approach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Styled Pandas Summary Table – Q2 Seasonal Intelligence Report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8503920" cy="2999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step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51560"/>
            <a:ext cx="8412480" cy="29443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411480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4114800"/>
            <a:ext cx="54864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8056" y="413308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MONTH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448056" y="427939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March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48056" y="446227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81.4% forecast accuracy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172968" y="4114800"/>
            <a:ext cx="2743200" cy="502920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72968" y="4114800"/>
            <a:ext cx="54864" cy="5029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00984" y="413308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MONTH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3300984" y="427939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November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300984" y="446227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78.8% accuracy - 83.7% on-time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25896" y="411480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025896" y="4114800"/>
            <a:ext cx="54864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53912" y="413308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VOLATILITY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6153912" y="427939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 / Apr / Jul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153912" y="446227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 recurring critical months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0" y="4718304"/>
            <a:ext cx="9144000" cy="425196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" y="474573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VISUALIZATION:  pandas .style chain applies background_gradient() Red colormap to volatility (high=bad) and RdYlGn to accuracy/on-time (high=good). Dual-direction color encoding prevents misreading. format() ensures clean percentage and comma-formatted number display.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0972148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 TO THE CEO QUESTION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our demand unpredictability silently breaking our supply chain?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261872"/>
            <a:ext cx="8229600" cy="36576"/>
          </a:xfrm>
          <a:prstGeom prst="rect">
            <a:avLst/>
          </a:prstGeom>
          <a:solidFill>
            <a:srgbClr val="445588"/>
          </a:solidFill>
          <a:ln w="12700">
            <a:solidFill>
              <a:srgbClr val="4455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89888"/>
            <a:ext cx="1993392" cy="2606040"/>
          </a:xfrm>
          <a:prstGeom prst="rect">
            <a:avLst/>
          </a:prstGeom>
          <a:solidFill>
            <a:srgbClr val="1E2D4A"/>
          </a:solidFill>
          <a:ln w="12700">
            <a:solidFill>
              <a:srgbClr val="2E40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63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184708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Is Predictable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267712"/>
            <a:ext cx="181051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Jan, Apr &amp; Jul are recurring spike months at 0.52. These are not random — they are plannable.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70048" y="1389888"/>
            <a:ext cx="1993392" cy="2606040"/>
          </a:xfrm>
          <a:prstGeom prst="rect">
            <a:avLst/>
          </a:prstGeom>
          <a:solidFill>
            <a:srgbClr val="1E2D4A"/>
          </a:solidFill>
          <a:ln w="12700">
            <a:solidFill>
              <a:srgbClr val="2E40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61488" y="1463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761488" y="184708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Holds Firm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61488" y="2267712"/>
            <a:ext cx="181051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 = 0.07. Volatility does NOT break our forecasts — accuracy stays 79–81% year-round.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91456" y="1389888"/>
            <a:ext cx="1993392" cy="2606040"/>
          </a:xfrm>
          <a:prstGeom prst="rect">
            <a:avLst/>
          </a:prstGeom>
          <a:solidFill>
            <a:srgbClr val="1E2D4A"/>
          </a:solidFill>
          <a:ln w="12700">
            <a:solidFill>
              <a:srgbClr val="2E40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82896" y="1463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882896" y="184708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Absorbs Shocks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82896" y="2267712"/>
            <a:ext cx="181051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 rate holds 84–86% despite spikes. April is the only true bottleneck (15.83 days avg).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12864" y="1389888"/>
            <a:ext cx="1993392" cy="2606040"/>
          </a:xfrm>
          <a:prstGeom prst="rect">
            <a:avLst/>
          </a:prstGeom>
          <a:solidFill>
            <a:srgbClr val="1E2D4A"/>
          </a:solidFill>
          <a:ln w="12700">
            <a:solidFill>
              <a:srgbClr val="2E40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04304" y="1463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004304" y="184708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IS Our Normal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04304" y="2267712"/>
            <a:ext cx="181051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index = 0.50 with a near-uniform distribution. High volatility is structural — not exceptional.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087368"/>
            <a:ext cx="8229600" cy="36576"/>
          </a:xfrm>
          <a:prstGeom prst="rect">
            <a:avLst/>
          </a:prstGeom>
          <a:solidFill>
            <a:srgbClr val="445588"/>
          </a:solidFill>
          <a:ln w="12700">
            <a:solidFill>
              <a:srgbClr val="4455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1422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VERDICT:  Demand volatility is real and persistent — but it is not silently breaking the chain. The chain is resilient. The real risk is complacency: without proactive planning for Jan/Apr/Jul spikes and structural investment in April logistics capacity, a future shock could cascade.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" y="452628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EDA  ·  Q2 Strategic Report  ·  Confidential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2283149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EDA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 Strategic Intelligence Report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Strategy: Are We Paying a Quality Premium — or Just Paying a Premium?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337560"/>
            <a:ext cx="365760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520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 |  CEO Briefing  |  Confidential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77316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ANALYTICAL STEPS  |  22 DATA COLUMNS  |  KEY KPIs: PRICE · QUALITY · DEFECTS · RETURNS · RELIABILITY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750911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1: Understand the Price Distribution First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comparing anything — is our pricing data clean, concentrated, or wildly spread?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463040" cy="2560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our price-per-unit distribution look like — and are there extreme outliers that could distort all downstream quality analysis?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(Frequency)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histogram with 40 bins reveals the shape of the price distribution. Is it normal (bell-shaped), uniform, or multimodal? This tells us whether pricing is disciplined or chaotic across our supplier base.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 (Spread &amp; Outliers)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horizontal box plot placed alongside the histogram exposes the IQR (middle 50% of prices), minimum, maximum, and any statistical outliers — defined as values beyond Q3 + 1.5×IQR.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Comes First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7220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prices distort correlation calculations and group averages. If Step 2 shows a strong price-quality relationship, it may be driven entirely by a few extreme outlier transactions — not the bulk of procurement.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solidFill>
            <a:srgbClr val="D6E4F7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46085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 USED:  price_per_unit  (histogram + box plot, IQR outlier detection via Q3 + 1.5×IQR)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0913660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1: Output &amp; Analytical Approach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Audit: Price Distribution Analysis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850392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q3_ste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51560"/>
            <a:ext cx="8412480" cy="2834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3995928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3995928"/>
            <a:ext cx="54864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8056" y="400507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PRICE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448056" y="415137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$274.70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48056" y="4334256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Near-uniform distribution across range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172968" y="3995928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72968" y="3995928"/>
            <a:ext cx="54864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00984" y="400507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PRICE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3300984" y="415137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$277.34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300984" y="4334256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slightly above mean — mild right skew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25896" y="3995928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025896" y="3995928"/>
            <a:ext cx="54864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53912" y="400507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6153912" y="415137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Extremes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153912" y="4334256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range: ~$180–$390, no statistical outliers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0" y="4599432"/>
            <a:ext cx="9144000" cy="544068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" y="4626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CHOICE:  Side-by-side histogram + box plot using gridspec_kw={'width_ratios':[2,1]} gives the histogram 2× the visual space. The histogram reveals frequency shape; the box plot independently flags outliers via IQR. Mean (red dashed) and Median (green solid) lines on the histogram immediately expose any distribution skew.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8267033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2: Price vs. Quality — The Core Scatter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paying more actually deliver measurable quality improvement?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463040" cy="2560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there a statistically meaningful relationship between price per unit and quality score — or are we paying more for nothing?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 Foundation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dot = one procurement transaction. X-axis = price_per_unit; Y-axis = quality_score. The scatter shape immediately reveals whether there is a visible trend — tight diagonal = strong link; random cloud = no link.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 via np.corrcoef()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numpy.corrcoef(x, y) returns a 2×2 correlation matrix. The [0,1] element is the Pearson r: ranges from –1 (perfect inverse) to +1 (perfect positive). Values near 0 mean price and quality are statistically independent.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Line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7220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np.polyfit(x, y, 1) fits a degree-1 polynomial (a straight line). The slope tells us: for every $1 increase in price, quality changes by [slope] units. A flat line confirms: no systematic relationship exists.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solidFill>
            <a:srgbClr val="D6E4F7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46085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METRICS:  price_per_unit  ·  quality_score  (Pearson r via numpy.corrcoef, regression via np.polyfit)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669125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2: Output &amp; Analytical Approach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vs. Quality: The Procurement Reality Check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52120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q3_ste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051560"/>
            <a:ext cx="5157216" cy="3429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23560" y="1024128"/>
            <a:ext cx="315468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669280" y="107899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Pearson r = 0.01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669280" y="15361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Virtually Zero Correlation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623560" y="2029968"/>
            <a:ext cx="3154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23560" y="2029968"/>
            <a:ext cx="3154680" cy="31089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0" y="204825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696712" y="2395728"/>
            <a:ext cx="300837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Price-Quality Link: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0.01 is statistically negligible. Price has no predictive power over quality score.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8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Cloud Pattern: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quality scores (1–10) appear at every price level. There is no 'expensive = better quality' pattern in the data.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8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Regression Line: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trend line is nearly horizontal — confirming price does not predict quality, even directionally.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8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Takeaway: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buying quality with our spending. Price and quality are completely disconnected.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0040" y="4599432"/>
            <a:ext cx="8458200" cy="384048"/>
          </a:xfrm>
          <a:prstGeom prst="rect">
            <a:avLst/>
          </a:prstGeom>
          <a:solidFill>
            <a:srgbClr val="D6E4F7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57200" y="462686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CHOICE:  Scatter plot chosen to show the full distribution of 3,089 individual orders — no aggregation that hides variance. alpha=0.4 transparency prevents over-plotting. np.corrcoef provides the headline r-value; the flat regression line from np.polyfit closes the argument visually.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6058428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3: Price vs. Defect Rate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price doesn't buy quality scores, does it at least buy fewer defects?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463040" cy="2560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we pay more, do we receive fewer defective items — and does supplier selection status change this relationship?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by Selection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scatter layers: gold dots = selected suppliers (flag=1), grey dots = alternative/benchmarked (flag=0). Plotting both reveals whether selected suppliers occupy a better price-defect zone than alternatives.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Quadrant Lines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axhline at defect rate median splits the chart into 'acceptable' and 'high defect' zones. axvline at price median creates four quadrants. The top-right quadrant (high price + high defect) is the DANGER ZONE.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 ZONE Logic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7220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supplier in the top-right quadrant costs more AND delivers more defects. This is the procurement equivalent of getting the worst of both worlds — a direct target for renegotiation or replacement.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solidFill>
            <a:srgbClr val="D6E4F7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46085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METRICS:  price_per_unit  ·  defect_rate  ·  selected_supplier_flag  (quadrant scatter, median reference lines)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1651528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3: Output &amp; Analytical Approach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vs. Defect Rate: Are We Buying Reliability?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52120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q3_step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051560"/>
            <a:ext cx="5157216" cy="3429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23560" y="1024128"/>
            <a:ext cx="3154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23560" y="1024128"/>
            <a:ext cx="3154680" cy="31089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0" y="104241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696712" y="1389888"/>
            <a:ext cx="3008376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Price-Defect Relationship: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rates are uniformly distributed across all price levels ($50–$500). Expensive orders defect just as often.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 ZONE Populated: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top-right quadrant (high price + high defect) contains both selected and non-selected suppliers — a clear procurement risk area.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Doesn't Filter Defects: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dots (selected) appear throughout the defect rate range — selection criteria do not appear to screen for defect performance.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Takeaway: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more does not reduce defect rates. Current supplier selection is not defect-driven.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0040" y="4599432"/>
            <a:ext cx="8458200" cy="384048"/>
          </a:xfrm>
          <a:prstGeom prst="rect">
            <a:avLst/>
          </a:prstGeom>
          <a:solidFill>
            <a:srgbClr val="D6E4F7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57200" y="462686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CHOICE:  Two-layer scatter (selected vs. non-selected) with median reference lines creates a visual 4-quadrant risk map without any coding complexity. The DANGER ZONE text annotation directs the CEO's eye to the most strategically important area of the chart.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30518002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4: Price Buckets for Cleaner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we get what we pay for — when measured across price tiers rather than raw scatter?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463040" cy="2560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prices are grouped into Low / Medium / High / Premium tiers, do quality, defect rate, and return rate improve meaningfully as price increases?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pd.cut() for Bucketing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pd.cut(price_per_unit, bins=4, labels=['Low','Medium','High','Premium']) divides the continuous price range into 4 equal-width buckets. This reduces noise and makes trends visible at the group level.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Metrics per Bucket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quality_score (higher = better), defect_rate×100 (lower = better), return_rate×100 (lower = better). The ×100 conversion rescales rates to percentages — making all three metrics comparable on the same y-axis.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autolabel() for Precision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7220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autolabel() function loops through all bars and annotates each with its exact value at the top. Without this, bars of similar height (e.g. 5.3 vs. 5.5) are visually indistinguishable — a critical issue for executive clarity.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solidFill>
            <a:srgbClr val="D6E4F7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46085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METRICS:  price_per_unit (bucketed)  ·  quality_score  ·  defect_rate  ·  return_rate  (grouped bar chart per tier)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1513144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4: Output &amp; Analytical Approach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Metrics by Price Tier: Do We Get What We Pay For?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52120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q3_step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051560"/>
            <a:ext cx="5157216" cy="3429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23560" y="1024128"/>
            <a:ext cx="3154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23560" y="1024128"/>
            <a:ext cx="3154680" cy="31089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0" y="104241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696712" y="1389888"/>
            <a:ext cx="3008376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Barely Moves: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 ranges 5.3 (Low) to 5.6 (High) and drops to 5.4 (Premium) — no consistent premium quality tier.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Rate Stays Flat: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rate is 5.1% (Low), 4.9% (Medium), 5.0% (High), 4.9% (Premium) — all within a 0.2% band. No meaningful improvement.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 is Identical: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 sits at 2.5%–2.6% across ALL four price tiers. Customers return premium goods at the same rate as budget goods.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Takeaway: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tier has zero operational impact. Low-tier and Premium-tier suppliers are interchangeable on all three quality metrics.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0040" y="4599432"/>
            <a:ext cx="8458200" cy="384048"/>
          </a:xfrm>
          <a:prstGeom prst="rect">
            <a:avLst/>
          </a:prstGeom>
          <a:solidFill>
            <a:srgbClr val="D6E4F7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57200" y="462686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CHOICE:  Grouped bar chart (3 metrics × 4 buckets = 12 bars) chosen over raw scatter because executive audiences need grouped summaries, not 3,089 individual dots. width=0.25 with ±offset positioning prevents bar overlap. autolabel() is essential — bar heights differ by &lt;0.3 points, invisible without labels.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3512867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5: Procurement Action &amp; Pricing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certain procurement strategies systematically overpaying?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463040" cy="2560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different procurement action codes (strategies 0–3) result in meaningfully different price levels — or is pricing consistent regardless of the strategy used?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Median First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groupby('procurement_action_code')['price_per_unit'].median().sort_values() orders action codes by their median price — making it easy to see which strategies land in lower vs. higher price bands.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 per Action Code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box plot per code shows the full distribution — median line, IQR box, and whiskers to min/max. This reveals not just average price but price consistency: a wide box = strategy produces highly variable pricing.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Median Benchmark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7220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horizontal dotted line marks the global median price ($277.34). Action codes with median boxes above this line are systematically more expensive than average — a direct input for procurement policy reform.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solidFill>
            <a:srgbClr val="D6E4F7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46085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METRICS:  procurement_action_code  ·  price_per_unit  (box plot per strategy, global median benchmark)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649929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5: Output &amp; Analytical Approach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Strategy Audit: Price Spread per Action 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52120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q3_step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051560"/>
            <a:ext cx="5157216" cy="3429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23560" y="1024128"/>
            <a:ext cx="3154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23560" y="1024128"/>
            <a:ext cx="3154680" cy="31089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0" y="104241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696712" y="1389888"/>
            <a:ext cx="3008376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Codes Near Global Median: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procurement action codes have medians clustered within ~$5 of the global median ($277). No code is systematically cheaper or more expensive.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IQR Across All Codes: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code shows an IQR from ~$160 to ~$390 — meaning each procurement strategy covers the full price spectrum.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'Budget' Strategy Exists: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Code 1 (sorted lowest) still reaches $500 at its maximum. No procurement strategy consistently avoids high-price suppliers.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Takeaway: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action code does not drive price. Strategy type is not the cost lever — supplier selection is.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0040" y="4599432"/>
            <a:ext cx="8458200" cy="384048"/>
          </a:xfrm>
          <a:prstGeom prst="rect">
            <a:avLst/>
          </a:prstGeom>
          <a:solidFill>
            <a:srgbClr val="D6E4F7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57200" y="462686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CHOICE:  Box plot chosen over bar chart because procurement prices have high variance — a simple average bar would hide the wide IQR spread. plt.cm.viridis colormap assigns each action code a distinct color for visual separation without implying ranking. Global median line acts as an instant benchmark reference.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7573480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6: Return Rate — The Final Customer Verdict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vote with their returns. Do premium goods get returned less?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463040" cy="2560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Across Low, Medium, High, and Premium price tiers — does the customer return rate decrease as price increases? Or does it reveal the same story?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 = Ground Truth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internal quality scores (which are subjective ratings), the return rate is objective market behaviour. Customers who physically return a product are delivering the most direct quality verdict possible.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×100 Conversion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groupby('price_bucket')['return_rate'].mean() × 100 converts the raw rate (e.g. 0.025) into a readable percentage (2.5%). This makes the line chart readable and the annotations meaningful for non-technical CEOs.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fill_between() Shadow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7220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plt.fill_between() adds a light blue shaded area below the trend line, creating visual weight and area emphasis. The Premium data point is individually annotated via plt.annotate() with an arrowhead for boardroom emphasis.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solidFill>
            <a:srgbClr val="D6E4F7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46085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METRICS:  return_rate  ·  price_bucket  (line plot, mean return rate per tier, fill_between shading)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8408894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6: Output &amp; Analytical Approach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Verdict: Return Rates by Price Tier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52120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q3_step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051560"/>
            <a:ext cx="5157216" cy="3429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23560" y="1024128"/>
            <a:ext cx="315468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669280" y="107899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Return = 2.6%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5669280" y="15361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budget tier — damning finding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623560" y="2029968"/>
            <a:ext cx="3154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23560" y="2029968"/>
            <a:ext cx="3154680" cy="31089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0" y="204825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696712" y="2395728"/>
            <a:ext cx="300837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 Is Flat Across Tiers: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rates go from 2.45% (Low) to 2.6% (Premium) — a 0.15% total increase, not a decrease.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8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Products Return More: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Counterintuitively, premium-priced goods have the highest return rate of all four tiers.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8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See No Quality Difference: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flat trend confirms: customers don't experience better product quality at higher price points.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8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Takeaway: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most boardroom-ready finding in Q3. Premium price = premium returns. The price-quality narrative is completely false.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0040" y="4599432"/>
            <a:ext cx="8458200" cy="384048"/>
          </a:xfrm>
          <a:prstGeom prst="rect">
            <a:avLst/>
          </a:prstGeom>
          <a:solidFill>
            <a:srgbClr val="D6E4F7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57200" y="462686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CHOICE:  Line plot chosen over bar chart to emphasise the trend direction across ordered price categories. fill_between() adds visual weight without clutter. The annotate() arrow on the Premium point forces attention to the most damning number in the entire Q3 analysis.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9290830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7: Correlation Heatmap — Tie It All Together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matrix that proves or disproves the price-quality hypothesis with statistical rigour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463040" cy="2560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Across all five key Q3 variables — price, quality, defects, returns, and reliability — which pairs are genuinely statistically linked?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df[cols].corr() Matrix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.corr() computes a 5×5 Pearson correlation matrix for: price_per_unit, quality_score, defect_rate, return_rate, supplier_reliability_score. Each cell is the r-value between that pair of variables.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imshow + coolwarm Colormap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imshow() renders the matrix as a heatmap. The coolwarm colormap maps r = +1 as deep red, r = –1 as deep blue, and r = 0 as neutral grey. This makes near-zero correlations visually obvious at a glance.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1488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214884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167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White/Black Text Logic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7220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annotation loop: text color is white if abs(r) &gt; 0.5 (dark cell background), black otherwise. This ensures readability regardless of cell color intensity — a critical accessibility consideration for printed boardroom slides.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solidFill>
            <a:srgbClr val="D6E4F7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46085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METRICS:  price_per_unit  ·  quality_score  ·  defect_rate  ·  return_rate  ·  supplier_reliability_score  (5×5 Pearson matrix)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10239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7: Output &amp; Analytical Approach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Value DNA: The Correlation Matrix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45720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q3_step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51560"/>
            <a:ext cx="4480560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983480" y="1024128"/>
            <a:ext cx="37947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983480" y="1024128"/>
            <a:ext cx="3794760" cy="31089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0" y="104241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47488" y="1399032"/>
            <a:ext cx="365760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Correlates with Nothing: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vs. Quality r=0.01, Price vs. Defects r=-0.02, Price vs. Returns r=0.03, Price vs. Reliability r=0.04 — all near zero.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Scores Are Independent: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vs. Defects r=0.00, Quality vs. Returns r=0.02, Quality vs. Reliability r=-0.00. Internal quality scores correlate with nothing external.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&amp; Returns Mildly Linked: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vs. Returns r=-0.04 — slightly negative, meaning higher defects marginally reduce returns (possibly defects caught before shipping).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Off-Diagonal Values Near Zero: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matrix outside the diagonal is grey — statistically, none of our five core procurement metrics are linked to each other.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Takeaway: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procurement value chain is entirely disconnected. Price tells us nothing about any outcome.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4983480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CHOICE:  5×5 heatmap chosen as the closing visual because it proves ALL pairwise relationships simultaneously — not just price vs. one metric. coolwarm colormap with vmin=-1/vmax=1 ensures the grey neutral zone is visually dominant, making the near-zero pattern immediately obvious without reading numbers.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56939412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 TO THE CEO QUESTION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 we paying a quality premium — or just paying a premium?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261872"/>
            <a:ext cx="8229600" cy="36576"/>
          </a:xfrm>
          <a:prstGeom prst="rect">
            <a:avLst/>
          </a:prstGeom>
          <a:solidFill>
            <a:srgbClr val="445588"/>
          </a:solidFill>
          <a:ln w="12700">
            <a:solidFill>
              <a:srgbClr val="4455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89888"/>
            <a:ext cx="1993392" cy="2606040"/>
          </a:xfrm>
          <a:prstGeom prst="rect">
            <a:avLst/>
          </a:prstGeom>
          <a:solidFill>
            <a:srgbClr val="1E2D4A"/>
          </a:solidFill>
          <a:ln w="12700">
            <a:solidFill>
              <a:srgbClr val="2E40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63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184708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Buys Nothing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267712"/>
            <a:ext cx="181051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 = 0.01. Price is statistically independent of quality score, defect rate, return rate, and supplier reliability.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70048" y="1389888"/>
            <a:ext cx="1993392" cy="2606040"/>
          </a:xfrm>
          <a:prstGeom prst="rect">
            <a:avLst/>
          </a:prstGeom>
          <a:solidFill>
            <a:srgbClr val="1E2D4A"/>
          </a:solidFill>
          <a:ln w="12700">
            <a:solidFill>
              <a:srgbClr val="2E40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61488" y="1463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761488" y="184708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Premium Quality Tier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61488" y="2267712"/>
            <a:ext cx="181051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(5.3–5.6), defects (4.9–5.1%), and returns (2.5–2.6%) are flat across all four price tiers. Low = Premium.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91456" y="1389888"/>
            <a:ext cx="1993392" cy="2606040"/>
          </a:xfrm>
          <a:prstGeom prst="rect">
            <a:avLst/>
          </a:prstGeom>
          <a:solidFill>
            <a:srgbClr val="1E2D4A"/>
          </a:solidFill>
          <a:ln w="12700">
            <a:solidFill>
              <a:srgbClr val="2E40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82896" y="1463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882896" y="184708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Strategies Cost the Same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82896" y="2267712"/>
            <a:ext cx="181051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procurement action codes produce the same price distribution with medians within $5 of each other — no strategy is a cost lever.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12864" y="1389888"/>
            <a:ext cx="1993392" cy="2606040"/>
          </a:xfrm>
          <a:prstGeom prst="rect">
            <a:avLst/>
          </a:prstGeom>
          <a:solidFill>
            <a:srgbClr val="1E2D4A"/>
          </a:solidFill>
          <a:ln w="12700">
            <a:solidFill>
              <a:srgbClr val="2E40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04304" y="1463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004304" y="184708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Confirm It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04304" y="2267712"/>
            <a:ext cx="181051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Premium-tier goods have the highest return rate (2.6%). Customers independently validate: price does not equal quality.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087368"/>
            <a:ext cx="8229600" cy="36576"/>
          </a:xfrm>
          <a:prstGeom prst="rect">
            <a:avLst/>
          </a:prstGeom>
          <a:solidFill>
            <a:srgbClr val="445588"/>
          </a:solidFill>
          <a:ln w="12700">
            <a:solidFill>
              <a:srgbClr val="4455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1422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VERDICT:  We are not paying a quality premium — we are just paying. The price-quality hypothesis is statistically false across all seven analyses. Procurement must abandon price as a quality proxy and build explicit quality-gate criteria based on defect rate, return rate, and reliability score thresholds.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" y="452628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EDA  ·  Q3 Strategic Report  ·  Confidential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9454140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Answers to All 3 CEO Questions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conclusions from 7 + 7 + 7 analytical steps across Q1, Q2, and Q3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61488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2761488" cy="43891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69848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·  Are we selecting the right suppliers?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2596896" cy="274320"/>
          </a:xfrm>
          <a:prstGeom prst="rect">
            <a:avLst/>
          </a:prstGeom>
          <a:solidFill>
            <a:srgbClr val="FFF3CD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5819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but only barely, and for the wrong reasons.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901952"/>
            <a:ext cx="257860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is a near-50/50 split (1,560 vs 1,529). Selected suppliers offer no measurable quality, defect, or delivery advantage. The only justification: selected suppliers cost 0.87% less while quality drops just 0.68% — a net win of +0.195%. Selection logic is economically sound by a razor-thin margin, but not performance-driven.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4782312"/>
            <a:ext cx="2761488" cy="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72968" y="1051560"/>
            <a:ext cx="2761488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1051560"/>
            <a:ext cx="2761488" cy="43891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4408" y="1069848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·  Is demand volatility breaking our supply chain?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64408" y="1572768"/>
            <a:ext cx="2596896" cy="274320"/>
          </a:xfrm>
          <a:prstGeom prst="rect">
            <a:avLst/>
          </a:prstGeom>
          <a:solidFill>
            <a:srgbClr val="FFF3CD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82696" y="15819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but it is embedded in our operations.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64408" y="1901952"/>
            <a:ext cx="257860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months (Jan, Apr, Jul) hit the 0.52 critical threshold. Volatility does NOT break forecasting (Pearson r = 0.07) and the logistics team absorbs shocks — on-time delivery holds at 84–86% year-round. However, mean volatility sits at 0.50 — the exact midpoint of the 0–1 chaos scale. We are permanently operating at the edge.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172968" y="4782312"/>
            <a:ext cx="2761488" cy="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71616" y="1051560"/>
            <a:ext cx="2761488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71616" y="1051560"/>
            <a:ext cx="2761488" cy="438912"/>
          </a:xfrm>
          <a:prstGeom prst="rect">
            <a:avLst/>
          </a:prstGeom>
          <a:solidFill>
            <a:srgbClr val="1A5E3A"/>
          </a:solidFill>
          <a:ln w="12700">
            <a:solidFill>
              <a:srgbClr val="1A5E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63056" y="1069848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·  Are we paying a quality premium?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63056" y="1572768"/>
            <a:ext cx="2596896" cy="274320"/>
          </a:xfrm>
          <a:prstGeom prst="rect">
            <a:avLst/>
          </a:prstGeom>
          <a:solidFill>
            <a:srgbClr val="FFF3CD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81344" y="15819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we are just paying a premium.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63056" y="1901952"/>
            <a:ext cx="257860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has zero correlation with quality (r = 0.01), defect rate (r = −0.02), return rate (r = 0.03), or supplier reliability (r = 0.04). Across all four price tiers (Low to Premium), quality scores, defect rates, and return rates are statistically flat. Premium-priced goods are returned at the highest rate (2.6%). Price is not a quality signal.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71616" y="4782312"/>
            <a:ext cx="2761488" cy="0"/>
          </a:xfrm>
          <a:prstGeom prst="rect">
            <a:avLst/>
          </a:prstGeom>
          <a:solidFill>
            <a:srgbClr val="1A5E3A"/>
          </a:solidFill>
          <a:ln w="12700">
            <a:solidFill>
              <a:srgbClr val="1A5E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findings are derived from 3,089 procurement records across 22 variables — statistically validated using Pearson correlation, IQR analysis, and distribution profiling.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B1515"/>
          </a:solidFill>
          <a:ln w="12700">
            <a:solidFill>
              <a:srgbClr val="6B15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 Direct Answer: Are We Selecting the Right Suppliers?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&amp; contextual breakdown of Q1 findings across 6 analytical steps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457200"/>
          </a:xfrm>
          <a:prstGeom prst="rect">
            <a:avLst/>
          </a:prstGeom>
          <a:solidFill>
            <a:srgbClr val="FFF3CD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78992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C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 YES — economically sound by +0.195%, but quality, delivery, and reliability show NO meaningful difference between selected and non-selected suppliers.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41605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00200"/>
            <a:ext cx="416052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6184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EXPLANATION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1938528"/>
            <a:ext cx="3977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Split (Step 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value_counts() reveals 1,560 non-selected vs. 1,529 selected — a 50.5/49.5 split. Near-equal group sizes ensure statistical validity of all downstream comparisons.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9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Reliability (Step 2):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groupby().agg(['mean','median','std']) across 4 metrics. Quality score: 5.46 vs. 5.42 (Δ=−0.7%). Defect rate: 0.05 vs. 0.05. Return rate: 0.03 vs. 0.03. Statistically negligible gaps.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9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Price-Value Test (Step 3):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price_delta_pct = ((avg_price_1 - avg_price_0) / avg_price_0) × 100 = −0.87%. quality_delta_pct = −0.68%. Since |savings| &gt; |quality loss|, the net margin is +0.195% — economically justified.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9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(Step 4) &amp; Procurement (Step 5):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plots show identical medians for on-time rate (85%), delivery days (15), and lead time variance (2.5). Normalized heatmap for procurement action codes shows probabilities between 0.47–0.53 — no strategic driver detected.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1600200"/>
            <a:ext cx="42519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600200"/>
            <a:ext cx="4251960" cy="2926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618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EXPLANATION &amp; CEO IMPLICATIONS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63440" y="1938528"/>
            <a:ext cx="4078224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reveals: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procurement team is selecting roughly half of all available suppliers, yet the selected group is virtually indistinguishable from the non-selected group on every performance dimension — quality, defects, returns, and delivery.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9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50/50 selection rate with no performance differentiation suggests selection may be driven by availability, relationships, or habit — not by objective performance data. The +0.195% cost advantage is real but fragile.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9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non-selected suppliers perform identically, the business is either missing good suppliers OR accepting bad ones. Either outcome is a procurement efficiency gap.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9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formal supplier scorecard with minimum threshold criteria for defect rate, reliability score, and on-time delivery. Selection should be explainable by data — not convention.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6B1515"/>
          </a:solidFill>
          <a:ln w="12700">
            <a:solidFill>
              <a:srgbClr val="6B151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928616"/>
            <a:ext cx="8412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Methods Used: value_counts()  ·  groupby().agg()  ·  % delta calculation  ·  box plots  ·  normalized heatmap</a:t>
            </a:r>
            <a:endParaRPr lang="en-US" sz="8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 Direct Answer: Is Demand Volatility Breaking Our Supply Chain?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&amp; contextual breakdown of Q2 findings across 7 analytical steps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457200"/>
          </a:xfrm>
          <a:prstGeom prst="rect">
            <a:avLst/>
          </a:prstGeom>
          <a:solidFill>
            <a:srgbClr val="E8F4FD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78992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 NO — the chain is resilient, but we permanently operate at the midpoint of the chaos scale (mean = 0.50). Three recurring spike months (Jan, Apr, Jul) are plannable — not random.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41605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00200"/>
            <a:ext cx="416052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6184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EXPLANATION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1938528"/>
            <a:ext cx="3977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Risk Map (Step 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groupby('temporal_month')['demand_volatility_index'].mean() + quantile(0.75) identifies the 0.52 threshold. Jan, Apr, Jul annotated as CRITICAL via plt.annotate() with arrowprops.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9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Comparison (Step 2):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Dual-axis subplot (sharex=True) overlays demand_volatility_index and seasonality_index. Diverging peaks confirm volatility is NOT seasonal-driven — it is structurally embedded.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9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Impact (Step 3):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np.corrcoef(volatility, forecast_accuracy) yields Pearson r = 0.07. Near-zero correlation proves volatility is NOT degrading forecast accuracy. Errors have other root causes.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9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Heatmap (Step 5):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imshow() with min-max normalization across volatility, delivery_time_days, and on_time_delivery_rate. April is the structural bottleneck: 15.83 delivery days + 0.52 volatility index simultaneously.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1600200"/>
            <a:ext cx="42519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600200"/>
            <a:ext cx="4251960" cy="2926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618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EXPLANATION &amp; CEO IMPLICATIONS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63440" y="1938528"/>
            <a:ext cx="4078224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reveals: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months (Jan, Apr, Jul) are consistently critical but predictable. The logistics team is absorbing demand shocks well — on-time delivery holds at 84–86% all year. However, the distribution analysis reveals volatility is near-uniform from 0 to 1, meaning high-volatility events are not exceptional — they are routine.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9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 volatility of 0.50 means we operate permanently at the statistical edge of stability. The supply chain is resilient by effort, not by design — this is an invisible operational cost that accumulates over time.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9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major external shock (demand surge, supplier disruption, geopolitical event) could push a system already running at 0.50 volatility into cascade failure.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9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Pre-position buffer stock before Jan, Apr, Jul. Invest in April logistics capacity. Build a volatility early-warning dashboard tracking the 0.52 threshold in real time.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928616"/>
            <a:ext cx="8412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Methods Used: groupby().mean()  ·  quantile(0.75)  ·  np.corrcoef()  ·  dual-axis subplots  ·  min-max normalized heatmap  ·  np.convolve() KDE</a:t>
            </a:r>
            <a:endParaRPr lang="en-US" sz="8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E3A"/>
          </a:solidFill>
          <a:ln w="12700">
            <a:solidFill>
              <a:srgbClr val="1A5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 Direct Answer: Are We Paying a Quality Premium?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&amp; contextual breakdown of Q3 findings across 7 analytical steps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457200"/>
          </a:xfrm>
          <a:prstGeom prst="rect">
            <a:avLst/>
          </a:prstGeom>
          <a:solidFill>
            <a:srgbClr val="E8F5EE"/>
          </a:solidFill>
          <a:ln w="12700">
            <a:solidFill>
              <a:srgbClr val="1A5E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78992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 NO — price is statistically independent of every quality outcome. All 5 core procurement metrics are disconnected. Premium-priced goods are returned more, not less.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41605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00200"/>
            <a:ext cx="416052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6184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EXPLANATION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1938528"/>
            <a:ext cx="3977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Distribution (Step 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(40 bins) + side-by-side box plot via gridspec_kw. Mean $274.70, Median $277.34. IQR = $180–$390. No statistical outliers beyond Q3 + 1.5×IQR — distribution is safe for correlation analysis.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9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vs. Quality (Step 2):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np.corrcoef(price, quality)[0,1] = 0.01. np.polyfit(x, y, 1) produces a nearly horizontal regression line. The scatter cloud spans all quality levels (1–10) uniformly across the full $50–$500 price range.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9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Bucketing (Step 4):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pd.cut(price_per_unit, bins=4, labels=['Low','Medium','High','Premium']) + groupby().mean(). Quality (5.3–5.6), defects (4.9–5.1%), and returns (2.5–2.6%) all fall within a statistically meaningless band.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9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 (Step 7):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df[5 cols].corr() rendered via imshow(coolwarm, vmin=-1, vmax=1). All 10 off-diagonal pairs have |r| &lt; 0.05. The entire matrix outside the diagonal is grey — confirming total statistical independence.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1600200"/>
            <a:ext cx="42519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600200"/>
            <a:ext cx="4251960" cy="2926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618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EXPLANATION &amp; CEO IMPLICATIONS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63440" y="1938528"/>
            <a:ext cx="4078224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reveals: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independent analyses — scatter plots, correlation tests, price bucket comparisons, procurement action audits, and a closing 5×5 correlation matrix — all converge on the same finding: price carries zero information about quality outcomes.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9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organisation may be unconsciously using price as a proxy for quality when making procurement decisions. This is a cognitive bias with a real financial cost — we are potentially spending more on suppliers who deliver no better outcomes.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9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damning finding: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Premium-priced goods carry a 2.6% return rate — the highest of all four tiers. Customers independently confirm: paying more does not produce better products.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9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price from quality assessment entirely. Build supplier evaluation around defect rate thresholds, reliability scores, and return rate benchmarks. Renegotiate contracts with Premium-tier suppliers who cannot justify their cost.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1A5E3A"/>
          </a:solidFill>
          <a:ln w="12700">
            <a:solidFill>
              <a:srgbClr val="1A5E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928616"/>
            <a:ext cx="8412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Methods Used: np.corrcoef()  ·  np.polyfit()  ·  pd.cut()  ·  gridspec histogram+boxplot  ·  df.corr() heatmap  ·  fill_between() line chart</a:t>
            </a:r>
            <a:endParaRPr lang="en-US" sz="8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RECOMMENDATIONS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40233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data-driven actions the business can take immediately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777240"/>
            <a:ext cx="8229600" cy="36576"/>
          </a:xfrm>
          <a:prstGeom prst="rect">
            <a:avLst/>
          </a:prstGeom>
          <a:solidFill>
            <a:srgbClr val="445588"/>
          </a:solidFill>
          <a:ln w="12700">
            <a:solidFill>
              <a:srgbClr val="4455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914400"/>
            <a:ext cx="2633472" cy="3383280"/>
          </a:xfrm>
          <a:prstGeom prst="rect">
            <a:avLst/>
          </a:prstGeom>
          <a:solidFill>
            <a:srgbClr val="1E2D4A"/>
          </a:solidFill>
          <a:ln w="12700">
            <a:solidFill>
              <a:srgbClr val="2E40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914400"/>
            <a:ext cx="2633472" cy="34747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941832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 Q1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316736"/>
            <a:ext cx="24505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Performance-Gated Supplier Scorecard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1874520"/>
            <a:ext cx="245059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availability-based selection with a minimum threshold model. Require suppliers to meet explicit benchmarks: defect_rate &lt; 0.04, on_time_delivery_rate &gt; 0.88, supplier_reliability_score &gt; 0.55. Apply these gates before price negotiation begins — not after.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37560" y="914400"/>
            <a:ext cx="2633472" cy="3383280"/>
          </a:xfrm>
          <a:prstGeom prst="rect">
            <a:avLst/>
          </a:prstGeom>
          <a:solidFill>
            <a:srgbClr val="1E2D4A"/>
          </a:solidFill>
          <a:ln w="12700">
            <a:solidFill>
              <a:srgbClr val="2E40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914400"/>
            <a:ext cx="2633472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941832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 Q2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29000" y="1316736"/>
            <a:ext cx="24505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Pre-Position for Jan, Apr &amp; Jul Volatility Spikes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29000" y="1874520"/>
            <a:ext cx="245059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three months are statistically predictable at 0.52 volatility. Build buffer inventory 3 weeks ahead of each month. Invest in April-specific logistics capacity (currently 15.83 days average delivery). Create a live volatility dashboard tracking the 0.52 critical threshold.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26480" y="914400"/>
            <a:ext cx="2633472" cy="3383280"/>
          </a:xfrm>
          <a:prstGeom prst="rect">
            <a:avLst/>
          </a:prstGeom>
          <a:solidFill>
            <a:srgbClr val="1E2D4A"/>
          </a:solidFill>
          <a:ln w="12700">
            <a:solidFill>
              <a:srgbClr val="2E40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914400"/>
            <a:ext cx="2633472" cy="347472"/>
          </a:xfrm>
          <a:prstGeom prst="rect">
            <a:avLst/>
          </a:prstGeom>
          <a:solidFill>
            <a:srgbClr val="1A5E3A"/>
          </a:solidFill>
          <a:ln w="12700">
            <a:solidFill>
              <a:srgbClr val="1A5E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941832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Q3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1316736"/>
            <a:ext cx="24505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 Price from Quality Decisions Entirely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1874520"/>
            <a:ext cx="245059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(r = 0.01 with quality) is not a quality signal — it is a procurement habit. Renegotiate Premium-tier supplier contracts using defect rate and return rate as the leverage point. Redirect spend toward suppliers scoring high on reliability_score regardless of unit price.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4361688"/>
            <a:ext cx="8229600" cy="36576"/>
          </a:xfrm>
          <a:prstGeom prst="rect">
            <a:avLst/>
          </a:prstGeom>
          <a:solidFill>
            <a:srgbClr val="445588"/>
          </a:solidFill>
          <a:ln w="12700">
            <a:solidFill>
              <a:srgbClr val="4455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46227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FINDING:  Our supply chain is operationally resilient but strategically undisciplined. Selection lacks data-driven gates. Volatility is accepted as normal. Price is used as a quality proxy. All three are fixable with the data we already have.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472744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EDA  ·  Q1 + Q2 + Q3 Combined Strategic Report  ·  Confidential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7473</Words>
  <Application>Microsoft Office PowerPoint</Application>
  <PresentationFormat>On-screen Show (16:9)</PresentationFormat>
  <Paragraphs>772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9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 Chain EDA – Combined Presentation</dc:title>
  <dc:subject>PptxGenJS Presentation</dc:subject>
  <dc:creator>PptxGenJS</dc:creator>
  <cp:lastModifiedBy>Microsoft account</cp:lastModifiedBy>
  <cp:revision>3</cp:revision>
  <dcterms:created xsi:type="dcterms:W3CDTF">2026-04-05T15:37:09Z</dcterms:created>
  <dcterms:modified xsi:type="dcterms:W3CDTF">2026-04-06T06:58:36Z</dcterms:modified>
</cp:coreProperties>
</file>